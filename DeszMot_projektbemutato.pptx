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Packet Tracer topology image.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C8"/>
          </a:solidFill>
          <a:ln w="12700">
            <a:solidFill>
              <a:srgbClr val="12A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DeszMot Logisztika | Hálózati infrastruktúra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5196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svg"/><Relationship Id="rId4" Type="http://schemas.openxmlformats.org/officeDocument/2006/relationships/image" Target="../media/image-16-4.png"/><Relationship Id="rId5" Type="http://schemas.openxmlformats.org/officeDocument/2006/relationships/image" Target="../media/image-16-5.svg"/><Relationship Id="rId6" Type="http://schemas.openxmlformats.org/officeDocument/2006/relationships/image" Target="../media/image-16-6.png"/><Relationship Id="rId7" Type="http://schemas.openxmlformats.org/officeDocument/2006/relationships/image" Target="../media/image-16-7.svg"/><Relationship Id="rId8" Type="http://schemas.openxmlformats.org/officeDocument/2006/relationships/image" Target="../media/image-16-8.png"/><Relationship Id="rId9" Type="http://schemas.openxmlformats.org/officeDocument/2006/relationships/image" Target="../media/image-16-9.sv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sv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B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f085341749.pn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7">
              <a:alpha val="64000"/>
            </a:srgbClr>
          </a:solidFill>
          <a:ln w="12700">
            <a:solidFill>
              <a:srgbClr val="0618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4360" y="658368"/>
            <a:ext cx="91440" cy="4434840"/>
          </a:xfrm>
          <a:prstGeom prst="rect">
            <a:avLst/>
          </a:prstGeom>
          <a:solidFill>
            <a:srgbClr val="12A7C8"/>
          </a:solidFill>
          <a:ln w="12700">
            <a:solidFill>
              <a:srgbClr val="12A7C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1051560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DeszMot Logisztika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14400" y="181051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9F4FF"/>
                </a:solidFill>
              </a:rPr>
              <a:t>Hálózati infrastruktúra kialakítása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32688" y="274320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Öt telephely • VLAN-szegmentáció • EIGRP • ASA • szerverek • Wi-Fi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32688" y="379476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05840" y="386791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Projektbemutató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035808" y="379476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108960" y="386791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408/25T • 2026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32688" y="4572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9F5"/>
                </a:solidFill>
              </a:rPr>
              <a:t>Molnár Tamás • Demeter Szabolcs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A projekt célja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Egy egységesen üzemeltethető, biztonságos és bővíthető vállalati hálózat kialakítása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6002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8191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Üzleti működés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1248" y="2240280"/>
            <a:ext cx="302666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 budapesti központ és négy regionális raktár összekapcsolása.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70832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3712" y="16002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93792" y="158191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Biztonság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0" y="2240280"/>
            <a:ext cx="302666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Részlegek elkülönítése, tűzfalszabályok és szabályozott hozzáférés.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110728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93608" y="16002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33688" y="158191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Folyamatos elérés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311896" y="2240280"/>
            <a:ext cx="302666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Redundáns L2-kapcsolatok és dinamikus telephelyi routing.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40080" y="3794760"/>
            <a:ext cx="1089964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0080" y="3794760"/>
            <a:ext cx="73152" cy="1554480"/>
          </a:xfrm>
          <a:prstGeom prst="rect">
            <a:avLst/>
          </a:prstGeom>
          <a:solidFill>
            <a:srgbClr val="12A7C8"/>
          </a:solidFill>
          <a:ln w="12700">
            <a:solidFill>
              <a:srgbClr val="12A7C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68680" y="3959352"/>
            <a:ext cx="10488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Sikerfeltétel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68680" y="4325112"/>
            <a:ext cx="1048816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 hálózatnak támogatnia kell a napi logisztikai működést, a központi szolgáltatásokat, a telephelyek közötti adatcserét és a későbbi bővítést, miközben a kritikus adatok csak a jogosult felhasználók számára érhetők el.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Vállalati környezet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Budapest központ és négy regionális raktár</a:t>
            </a:r>
            <a:endParaRPr lang="en-US" sz="1150" dirty="0"/>
          </a:p>
        </p:txBody>
      </p:sp>
      <p:pic>
        <p:nvPicPr>
          <p:cNvPr id="4" name="Image 0" descr="/mnt/data/e2037af11b.png">    </p:cNvPr>
          <p:cNvPicPr>
            <a:picLocks noChangeAspect="1"/>
          </p:cNvPicPr>
          <p:nvPr/>
        </p:nvPicPr>
        <p:blipFill>
          <a:blip r:embed="rId1"/>
          <a:srcRect l="5140" r="5140" t="0" b="0"/>
          <a:stretch/>
        </p:blipFill>
        <p:spPr>
          <a:xfrm>
            <a:off x="621792" y="1234440"/>
            <a:ext cx="658368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2344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543800" y="1234440"/>
            <a:ext cx="73152" cy="1143000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0" y="1399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Budapest HQ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1764792"/>
            <a:ext cx="356616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Recepció, HR, vezetőség, pénzügy, marketing, ügyfélszolgálat és szerverpark.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543800" y="26060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543800" y="2606040"/>
            <a:ext cx="73152" cy="1143000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2770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Regionális raktárak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0" y="3136392"/>
            <a:ext cx="356616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Debrecen, Győr, Pécs és Szeged egységes telephelyi hálózati mintával.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543800" y="39776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543800" y="397764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0" y="4142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Tervezési keret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0" y="4507992"/>
            <a:ext cx="356616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 teljes projekt tervezett költségkerete 15–20 millió forint.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Fő követelmények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 műszaki és üzleti elvárások összefoglalása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3401568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15087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14904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5 telephely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9536" y="2148840"/>
            <a:ext cx="299923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Központ és négy raktár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89120" y="1325880"/>
            <a:ext cx="3401568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5087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2080" y="14904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Központi szolgáltatások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90288" y="2148840"/>
            <a:ext cx="299923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DHCP, DNS, web és monitoring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119872" y="1325880"/>
            <a:ext cx="3401568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2752" y="15087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42832" y="14904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Biztonság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321040" y="2148840"/>
            <a:ext cx="299923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ACL, tűzfal, NAT/PAT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58368" y="3657600"/>
            <a:ext cx="3401568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248" y="384048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81328" y="382219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Mobilitás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59536" y="4480560"/>
            <a:ext cx="299923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Vállalati vezeték nélküli hálózat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389120" y="3657600"/>
            <a:ext cx="3401568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0" y="384048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12080" y="382219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Szegmentálás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590288" y="4480560"/>
            <a:ext cx="299923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Marketing, HR, pénzügy, szerver, Wi-Fi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8119872" y="3657600"/>
            <a:ext cx="3401568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02752" y="3840480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942832" y="382219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Bővíthetőség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8321040" y="4480560"/>
            <a:ext cx="299923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Egységes címzés és szabványos topológia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A teljes Packet Tracer topológia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 dokumentációban megvalósított hálózati modell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10185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CE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mnt/data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6838" y="1353312"/>
            <a:ext cx="9013565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5888736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96112" y="5961888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Budapest központ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08960" y="5888736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182112" y="5961888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 telephelyi hálózat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5888736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16752" y="5961888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Szerver VLAN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366760" y="5888736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7656C8"/>
          </a:solidFill>
          <a:ln w="12700">
            <a:solidFill>
              <a:srgbClr val="7656C8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439912" y="5961888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Tűzfal és Wi-Fi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Központi architektúra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 budapesti hálózat logikai felépítése</a:t>
            </a:r>
            <a:endParaRPr lang="en-US" sz="1150" dirty="0"/>
          </a:p>
        </p:txBody>
      </p:sp>
      <p:pic>
        <p:nvPicPr>
          <p:cNvPr id="4" name="Image 0" descr="/mnt/data/6d2f89350c.png">    </p:cNvPr>
          <p:cNvPicPr>
            <a:picLocks noChangeAspect="1"/>
          </p:cNvPicPr>
          <p:nvPr/>
        </p:nvPicPr>
        <p:blipFill>
          <a:blip r:embed="rId1"/>
          <a:srcRect l="11261" r="11261" t="0" b="0"/>
          <a:stretch/>
        </p:blipFill>
        <p:spPr>
          <a:xfrm>
            <a:off x="594360" y="1207008"/>
            <a:ext cx="589788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84848" y="1234440"/>
            <a:ext cx="461772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784848" y="1234440"/>
            <a:ext cx="73152" cy="795528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13448" y="1399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Core réteg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013448" y="1764792"/>
            <a:ext cx="420624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Cisco 3560-24PS multilayer switch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784848" y="2212848"/>
            <a:ext cx="461772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84848" y="2212848"/>
            <a:ext cx="73152" cy="795528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3448" y="2377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Elosztó réteg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13448" y="2743200"/>
            <a:ext cx="420624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leaf-01 és leafSw02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784848" y="3191256"/>
            <a:ext cx="461772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84848" y="3191256"/>
            <a:ext cx="73152" cy="7955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13448" y="33558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Hozzáférési réteg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13448" y="3721608"/>
            <a:ext cx="420624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Marketing, HR és pénzügyi switchek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784848" y="4169664"/>
            <a:ext cx="461772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784848" y="4169664"/>
            <a:ext cx="73152" cy="795528"/>
          </a:xfrm>
          <a:prstGeom prst="rect">
            <a:avLst/>
          </a:prstGeom>
          <a:solidFill>
            <a:srgbClr val="7656C8"/>
          </a:solidFill>
          <a:ln w="12700">
            <a:solidFill>
              <a:srgbClr val="7656C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13448" y="43342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Peremvédelem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013448" y="4700016"/>
            <a:ext cx="420624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Cisco ASA 5505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784848" y="5148072"/>
            <a:ext cx="461772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84848" y="5148072"/>
            <a:ext cx="73152" cy="795528"/>
          </a:xfrm>
          <a:prstGeom prst="rect">
            <a:avLst/>
          </a:prstGeom>
          <a:solidFill>
            <a:srgbClr val="2E9D66"/>
          </a:solidFill>
          <a:ln w="12700">
            <a:solidFill>
              <a:srgbClr val="2E9D6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13448" y="5312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Szolgáltatások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013448" y="5678424"/>
            <a:ext cx="420624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3 központi szerver és vállalati Wi-Fi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VLAN-szegmentáció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 részlegek és szolgáltatások logikai elkülönítése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05613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4E2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344168"/>
            <a:ext cx="493776" cy="493776"/>
          </a:xfrm>
          <a:prstGeom prst="ellipse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19072" y="138074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VLAN 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71800" y="1380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Marketing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12280" y="13807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192.168.10.0/24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55480" y="138074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77B8"/>
                </a:solidFill>
              </a:rPr>
              <a:t>GW: .254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176272"/>
            <a:ext cx="105613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4E2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2286000"/>
            <a:ext cx="493776" cy="493776"/>
          </a:xfrm>
          <a:prstGeom prst="ellipse">
            <a:avLst/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19072" y="232257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VLAN 11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23225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12280" y="23225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192.168.11.0/24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55480" y="232257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A6A6"/>
                </a:solidFill>
              </a:rPr>
              <a:t>GW: .254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118104"/>
            <a:ext cx="105613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4E2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227832"/>
            <a:ext cx="493776" cy="4937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19072" y="326440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VLAN 12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71800" y="32644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Pénzügy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12280" y="32644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192.168.12.0/24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55480" y="32644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GW: .254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059936"/>
            <a:ext cx="105613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4E2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4169664"/>
            <a:ext cx="493776" cy="493776"/>
          </a:xfrm>
          <a:prstGeom prst="ellipse">
            <a:avLst/>
          </a:prstGeom>
          <a:solidFill>
            <a:srgbClr val="7656C8"/>
          </a:solidFill>
          <a:ln w="12700">
            <a:solidFill>
              <a:srgbClr val="7656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19072" y="42062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VLAN 20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71800" y="4206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Szerver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12280" y="4206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172.10.10.0/24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55480" y="42062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656C8"/>
                </a:solidFill>
              </a:rPr>
              <a:t>GW: .254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5001768"/>
            <a:ext cx="105613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4E2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5111496"/>
            <a:ext cx="493776" cy="493776"/>
          </a:xfrm>
          <a:prstGeom prst="ellipse">
            <a:avLst/>
          </a:prstGeom>
          <a:solidFill>
            <a:srgbClr val="2E9D66"/>
          </a:solidFill>
          <a:ln w="12700">
            <a:solidFill>
              <a:srgbClr val="2E9D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19072" y="514807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VLAN 30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971800" y="51480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Wi-Fi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12280" y="5148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192.168.30.0/24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555480" y="514807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9D66"/>
                </a:solidFill>
              </a:rPr>
              <a:t>GW: .254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Telephelyi IPv4-címzés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Egységes /24 végfelhasználói hálózatok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230368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171907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90472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Debrecen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56232"/>
            <a:ext cx="4818888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LAN: 192.168.13.0/24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Alapértelmezett átjáró: 192.168.13.254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Egységes telephelyi multilayer switch minta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5230368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325880"/>
            <a:ext cx="73152" cy="1719072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490472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Győr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1856232"/>
            <a:ext cx="4818888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LAN: 192.168.14.0/24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Alapértelmezett átjáró: 192.168.14.254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Egységes telephelyi multilayer switch minta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474720"/>
            <a:ext cx="5230368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474720"/>
            <a:ext cx="73152" cy="17190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639312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Pécs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005072"/>
            <a:ext cx="4818888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LAN: 192.168.15.0/24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Alapértelmezett átjáró: 192.168.15.254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Egységes telephelyi multilayer switch minta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3474720"/>
            <a:ext cx="5230368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474720"/>
            <a:ext cx="73152" cy="1719072"/>
          </a:xfrm>
          <a:prstGeom prst="rect">
            <a:avLst/>
          </a:prstGeom>
          <a:solidFill>
            <a:srgbClr val="7656C8"/>
          </a:solidFill>
          <a:ln w="12700">
            <a:solidFill>
              <a:srgbClr val="7656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639312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Szeged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4005072"/>
            <a:ext cx="4818888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LAN: 192.168.16.0/24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Alapértelmezett átjáró: 192.168.16.254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Egységes telephelyi multilayer switch minta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51560" y="57424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A szabványos címzési minta egyszerűsíti a telepítést, az üzemeltetést és a hibakeresést.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IPv6 kialakítás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Statikus /64 prefixek a központi hálózatokban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280160"/>
          <a:ext cx="6812280" cy="4389120"/>
        </p:xfrm>
        <a:graphic>
          <a:graphicData uri="http://schemas.openxmlformats.org/drawingml/2006/table">
            <a:tbl>
              <a:tblPr/>
              <a:tblGrid>
                <a:gridCol w="2270760"/>
                <a:gridCol w="2270760"/>
                <a:gridCol w="22707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Hálózat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IPv6 prefix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Átjáró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VLAN 10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2001:10:10::/64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::254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VLAN 11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2001:10:11::/64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::254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VLAN 12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2001:10:12::/64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::254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VLAN 20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2001:10:20::/64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::254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VLAN 30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2001:10:30::/64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::254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065008" y="1280160"/>
            <a:ext cx="3246120" cy="4389120"/>
          </a:xfrm>
          <a:prstGeom prst="roundRect">
            <a:avLst>
              <a:gd name="adj" fmla="val 2254"/>
            </a:avLst>
          </a:prstGeom>
          <a:solidFill>
            <a:srgbClr val="E8F6FA"/>
          </a:solidFill>
          <a:ln w="12700">
            <a:solidFill>
              <a:srgbClr val="B7DDE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81160" y="1691640"/>
            <a:ext cx="822960" cy="822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1248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Dual-stack alapok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412480" y="3337560"/>
            <a:ext cx="25603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Az IPv4 és IPv6 címzés párhuzamos használata jövőálló migrációs lehetőséget biztosít.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WAN és EIGRP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Hub-and-spoke összeköttetés a központ és a raktárak között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74920" y="2514600"/>
            <a:ext cx="2011680" cy="1417320"/>
          </a:xfrm>
          <a:prstGeom prst="ellipse">
            <a:avLst/>
          </a:prstGeom>
          <a:solidFill>
            <a:srgbClr val="102A43"/>
          </a:solidFill>
          <a:ln w="25400">
            <a:solidFill>
              <a:srgbClr val="12A7C8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58384" y="2816352"/>
            <a:ext cx="1444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Router0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Budapest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 flipH="1" flipV="1">
            <a:off x="1828800" y="1828800"/>
            <a:ext cx="4251960" cy="1508760"/>
          </a:xfrm>
          <a:prstGeom prst="line">
            <a:avLst/>
          </a:prstGeom>
          <a:noFill/>
          <a:ln w="25400">
            <a:solidFill>
              <a:srgbClr val="1677B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5800" y="1325880"/>
            <a:ext cx="2286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677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721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Debrecen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5.1.1.0/24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flipV="1">
            <a:off x="6080760" y="1828800"/>
            <a:ext cx="4151376" cy="1508760"/>
          </a:xfrm>
          <a:prstGeom prst="line">
            <a:avLst/>
          </a:prstGeom>
          <a:noFill/>
          <a:ln w="25400">
            <a:solidFill>
              <a:srgbClr val="1AA6A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89136" y="1325880"/>
            <a:ext cx="2286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A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72016" y="14721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Győr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272016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6.1.1.0/24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 flipH="1">
            <a:off x="1828800" y="3337560"/>
            <a:ext cx="4251960" cy="18745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5800" y="4709160"/>
            <a:ext cx="2286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8554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Pécs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52395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7.1.1.0/24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3337560"/>
            <a:ext cx="4151376" cy="1874520"/>
          </a:xfrm>
          <a:prstGeom prst="line">
            <a:avLst/>
          </a:prstGeom>
          <a:noFill/>
          <a:ln w="25400">
            <a:solidFill>
              <a:srgbClr val="7656C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89136" y="4709160"/>
            <a:ext cx="2286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7656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72016" y="48554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Szeged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272016" y="52395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8.1.1.0/24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90872" y="5623560"/>
            <a:ext cx="2788920" cy="347472"/>
          </a:xfrm>
          <a:prstGeom prst="roundRect">
            <a:avLst>
              <a:gd name="adj" fmla="val 21053"/>
            </a:avLst>
          </a:prstGeom>
          <a:solidFill>
            <a:srgbClr val="12A7C8"/>
          </a:solidFill>
          <a:ln w="12700">
            <a:solidFill>
              <a:srgbClr val="12A7C8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64024" y="5696712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EIGRP AS 1 • no auto-summary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Második rétegbeli redundancia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STP/PVST biztosítja a hurokmentes működést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51560" y="2011680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1677B8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24505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leaf-01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092440" y="2011680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1AA6A6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0" y="24505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leafSw02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023360" y="2395728"/>
            <a:ext cx="4069080" cy="1"/>
          </a:xfrm>
          <a:prstGeom prst="line">
            <a:avLst/>
          </a:prstGeom>
          <a:noFill/>
          <a:ln w="63500">
            <a:solidFill>
              <a:srgbClr val="2E9D66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023360" y="3035808"/>
            <a:ext cx="4069080" cy="1"/>
          </a:xfrm>
          <a:prstGeom prst="line">
            <a:avLst/>
          </a:prstGeom>
          <a:noFill/>
          <a:ln w="63500">
            <a:solidFill>
              <a:srgbClr val="D64545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800600" y="20574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9D66"/>
                </a:solidFill>
              </a:rPr>
              <a:t>Forwarding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32186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4545"/>
                </a:solidFill>
              </a:rPr>
              <a:t>Blocking / tartalék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51560" y="42519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4440" y="4434840"/>
            <a:ext cx="502920" cy="5029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874520" y="441655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Hurokmentesség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52728" y="5074920"/>
            <a:ext cx="28437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Broadcast-viharok megelőzése.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480560" y="42519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3440" y="443484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03520" y="441655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Automatikus átváltás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681728" y="5074920"/>
            <a:ext cx="28437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Linkhiba után újrakonvergálás.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909560" y="42519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2440" y="443484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732520" y="441655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Mérhető állapot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110728" y="5074920"/>
            <a:ext cx="28437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Root, forwarding és blocking portok.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Tűzfal, NAT/PAT és ACL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Cisco ASA 5505 peremvédelem</a:t>
            </a:r>
            <a:endParaRPr lang="en-US" sz="1150" dirty="0"/>
          </a:p>
        </p:txBody>
      </p:sp>
      <p:pic>
        <p:nvPicPr>
          <p:cNvPr id="4" name="Image 0" descr="/mnt/data/2e3b78e565.png">    </p:cNvPr>
          <p:cNvPicPr>
            <a:picLocks noChangeAspect="1"/>
          </p:cNvPicPr>
          <p:nvPr/>
        </p:nvPicPr>
        <p:blipFill>
          <a:blip r:embed="rId1"/>
          <a:srcRect l="10377" r="10377" t="0" b="0"/>
          <a:stretch/>
        </p:blipFill>
        <p:spPr>
          <a:xfrm>
            <a:off x="594360" y="1234440"/>
            <a:ext cx="576072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0" y="123444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675120" y="1234440"/>
            <a:ext cx="73152" cy="1051560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3720" y="139903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Interfészek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03720" y="1764792"/>
            <a:ext cx="425196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inside: 10.1.4.1/30 • outside: 10.1.3.2/30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675120" y="251460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514600"/>
            <a:ext cx="73152" cy="1051560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3720" y="267919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Címfordítás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03720" y="3044952"/>
            <a:ext cx="425196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PAT: VLAN 10, 11, 12, 30 • statikus NAT: 172.10.10.1 → 203.0.113.10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675120" y="379476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75120" y="3794760"/>
            <a:ext cx="73152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03720" y="395935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OUTSIDE-IN ACL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03720" y="4325112"/>
            <a:ext cx="42519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HTTP 80 • HTTPS 443 • Syslog UDP/514 • ICMP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Az ACL az outside interfész bejövő irányában aktív.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Vállalati Wi-Fi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Egyszerű, elkülönített vezeték nélküli hozzáférés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60520" y="1325880"/>
            <a:ext cx="3794760" cy="3794760"/>
          </a:xfrm>
          <a:prstGeom prst="ellipse">
            <a:avLst/>
          </a:prstGeom>
          <a:solidFill>
            <a:srgbClr val="E8F6FA"/>
          </a:solidFill>
          <a:ln w="25400">
            <a:solidFill>
              <a:srgbClr val="B9E4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57800" y="1920240"/>
            <a:ext cx="1600200" cy="1600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38221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</a:rPr>
              <a:t>Vállalati-WIFI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77240" y="1417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50392" y="149047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Access Point-PT-AC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823960" y="1417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897112" y="149047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VLAN 30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" y="489204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0392" y="496519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192.168.30.0/24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823960" y="489204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7656C8"/>
          </a:solidFill>
          <a:ln w="12700">
            <a:solidFill>
              <a:srgbClr val="7656C8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897112" y="496519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GW: 192.168.30.254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743200" y="576072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Nincs WLC és nincs CAPWAP: az access point önállóan működik.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Központi kiszolgálók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Három szerver, elkülönített VLAN 20 környezetben</a:t>
            </a:r>
            <a:endParaRPr lang="en-US" sz="1150" dirty="0"/>
          </a:p>
        </p:txBody>
      </p:sp>
      <p:pic>
        <p:nvPicPr>
          <p:cNvPr id="4" name="Image 0" descr="/mnt/data/9f139a8b40.png">    </p:cNvPr>
          <p:cNvPicPr>
            <a:picLocks noChangeAspect="1"/>
          </p:cNvPicPr>
          <p:nvPr/>
        </p:nvPicPr>
        <p:blipFill>
          <a:blip r:embed="rId1"/>
          <a:srcRect l="18807" r="18807" t="0" b="0"/>
          <a:stretch/>
        </p:blipFill>
        <p:spPr>
          <a:xfrm>
            <a:off x="603504" y="1234440"/>
            <a:ext cx="4663440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1234440"/>
            <a:ext cx="57150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1234440"/>
            <a:ext cx="73152" cy="1298448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06440" y="1399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SRV-WIN-01 • 172.10.10.1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06440" y="1764792"/>
            <a:ext cx="53035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HTTP • HTTPS • DHCP • DNS • TFTP • statikus NAT: 203.0.113.10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577840" y="2761488"/>
            <a:ext cx="57150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2761488"/>
            <a:ext cx="73152" cy="1298448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2926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SRV-MON-01 • 172.10.10.2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06440" y="3291840"/>
            <a:ext cx="53035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HTTP • HTTPS • TFTP • DNS • FTP • Syslog/monitoring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577840" y="4288536"/>
            <a:ext cx="57150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4288536"/>
            <a:ext cx="73152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06440" y="44531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SRV-LIN-01 • 172.10.10.3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06440" y="4818888"/>
            <a:ext cx="53035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HTTP • HTTPS • TFTP • SMTP • POP3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Konfiguráció és automatizálás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CLI-alapú megvalósítás, Packet Tracer Python3 demonstrációval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7132320" cy="4892040"/>
          </a:xfrm>
          <a:prstGeom prst="roundRect">
            <a:avLst>
              <a:gd name="adj" fmla="val 1121"/>
            </a:avLst>
          </a:prstGeom>
          <a:solidFill>
            <a:srgbClr val="0B172A"/>
          </a:solidFill>
          <a:ln w="12700">
            <a:solidFill>
              <a:srgbClr val="20344C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600200"/>
            <a:ext cx="6547104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core01(config)# ip routing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core01(config)# ipv6 unicast-routing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core01(config)# router eigrp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core01(config-router)# no auto-summary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core01(config)# interface vlan 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core01(config-if)# ip address 172.10.10.254 255.255.255.0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ASA0(config)# access-group OUTSIDE-IN in interface outside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5413248"/>
            <a:ext cx="2514600" cy="347472"/>
          </a:xfrm>
          <a:prstGeom prst="roundRect">
            <a:avLst>
              <a:gd name="adj" fmla="val 21053"/>
            </a:avLst>
          </a:prstGeom>
          <a:solidFill>
            <a:srgbClr val="7656C8"/>
          </a:solidFill>
          <a:ln w="12700">
            <a:solidFill>
              <a:srgbClr val="7656C8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33272" y="5486400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NetworkAutomation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5413248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30752" y="548640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38160" y="123444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1040" y="141732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0" y="139903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Egységes CLI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339328" y="2057400"/>
            <a:ext cx="284378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Minden eszköztípushoz dokumentált parancsblokkok.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138160" y="2990088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1040" y="317296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961120" y="315468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Gyors ellenőrzés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339328" y="3813048"/>
            <a:ext cx="284378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show parancsokkal igazolt állapot.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138160" y="4745736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1040" y="4928616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61120" y="491032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Bővíthető alap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339328" y="5568696"/>
            <a:ext cx="284378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 demonstráció később valódi automatizálás felé vihető.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Tesztelés és verifikáció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 működést konfigurációs és funkcionális tesztek igazolták</a:t>
            </a:r>
            <a:endParaRPr lang="en-US" sz="1150" dirty="0"/>
          </a:p>
        </p:txBody>
      </p:sp>
      <p:pic>
        <p:nvPicPr>
          <p:cNvPr id="4" name="Image 0" descr="/mnt/data/f41d96d9b0.png">    </p:cNvPr>
          <p:cNvPicPr>
            <a:picLocks noChangeAspect="1"/>
          </p:cNvPicPr>
          <p:nvPr/>
        </p:nvPicPr>
        <p:blipFill>
          <a:blip r:embed="rId1"/>
          <a:srcRect l="12691" r="12691" t="0" b="0"/>
          <a:stretch/>
        </p:blipFill>
        <p:spPr>
          <a:xfrm>
            <a:off x="594360" y="1243584"/>
            <a:ext cx="5577840" cy="4983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9400" y="1353312"/>
            <a:ext cx="329184" cy="3291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14032" y="136245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VLAN-ok és trunkok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9400" y="2066544"/>
            <a:ext cx="329184" cy="3291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14032" y="20756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STP root / blocking állapot</a:t>
            </a:r>
            <a:endParaRPr lang="en-US" sz="1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9400" y="2779776"/>
            <a:ext cx="329184" cy="32918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114032" y="27889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EIGRP szomszédok és útvonalak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29400" y="3493008"/>
            <a:ext cx="329184" cy="32918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114032" y="35021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Inter-VLAN és telephelyi ping</a:t>
            </a:r>
            <a:endParaRPr lang="en-US" sz="13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29400" y="4206240"/>
            <a:ext cx="329184" cy="32918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114032" y="421538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NAT/PAT és ACL számlálók</a:t>
            </a:r>
            <a:endParaRPr lang="en-US" sz="13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29400" y="4919472"/>
            <a:ext cx="329184" cy="329184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7114032" y="492861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HTTP, HTTPS, TFTP, DNS, DHCP, Syslog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Költségvetési terv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 dokumentációban szereplő eszközök és kivitelezés alapján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41248" y="1325880"/>
            <a:ext cx="4160520" cy="416052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D2E7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2514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2A43"/>
                </a:solidFill>
              </a:rPr>
              <a:t>15,57 M Ft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61872" y="315468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teljes becsült projektköltség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99616" y="397764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2E9D66"/>
          </a:solidFill>
          <a:ln w="12700">
            <a:solidFill>
              <a:srgbClr val="2E9D66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72768" y="4050792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15–20 M Ft kereten belül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23560" y="15910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Eszközök és infrastruktúra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29800" y="1591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2A43"/>
                </a:solidFill>
              </a:rPr>
              <a:t>10,95 M Ft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23560" y="1828800"/>
            <a:ext cx="5303520" cy="164592"/>
          </a:xfrm>
          <a:prstGeom prst="roundRect">
            <a:avLst>
              <a:gd name="adj" fmla="val 44444"/>
            </a:avLst>
          </a:prstGeom>
          <a:solidFill>
            <a:srgbClr val="DFE8EF"/>
          </a:solidFill>
          <a:ln w="12700">
            <a:solidFill>
              <a:srgbClr val="DFE8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23560" y="1828800"/>
            <a:ext cx="3727223" cy="164592"/>
          </a:xfrm>
          <a:prstGeom prst="roundRect">
            <a:avLst>
              <a:gd name="adj" fmla="val 44444"/>
            </a:avLst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27340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Kivitelezési díj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829800" y="2734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2A43"/>
                </a:solidFill>
              </a:rPr>
              <a:t>3,21 M Ft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23560" y="2971800"/>
            <a:ext cx="5303520" cy="164592"/>
          </a:xfrm>
          <a:prstGeom prst="roundRect">
            <a:avLst>
              <a:gd name="adj" fmla="val 44444"/>
            </a:avLst>
          </a:prstGeom>
          <a:solidFill>
            <a:srgbClr val="DFE8EF"/>
          </a:solidFill>
          <a:ln w="12700">
            <a:solidFill>
              <a:srgbClr val="DFE8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3560" y="2971800"/>
            <a:ext cx="1094159" cy="164592"/>
          </a:xfrm>
          <a:prstGeom prst="roundRect">
            <a:avLst>
              <a:gd name="adj" fmla="val 44444"/>
            </a:avLst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38770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10% tartalékkeret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829800" y="3877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2A43"/>
                </a:solidFill>
              </a:rPr>
              <a:t>1,42 M Ft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23560" y="4114800"/>
            <a:ext cx="5303520" cy="164592"/>
          </a:xfrm>
          <a:prstGeom prst="roundRect">
            <a:avLst>
              <a:gd name="adj" fmla="val 44444"/>
            </a:avLst>
          </a:prstGeom>
          <a:solidFill>
            <a:srgbClr val="DFE8EF"/>
          </a:solidFill>
          <a:ln w="12700">
            <a:solidFill>
              <a:srgbClr val="DFE8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3560" y="4114800"/>
            <a:ext cx="482138" cy="164592"/>
          </a:xfrm>
          <a:prstGeom prst="roundRect">
            <a:avLst>
              <a:gd name="adj" fmla="val 4444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23560" y="50749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23560" y="5074920"/>
            <a:ext cx="73152" cy="914400"/>
          </a:xfrm>
          <a:prstGeom prst="rect">
            <a:avLst/>
          </a:prstGeom>
          <a:solidFill>
            <a:srgbClr val="7656C8"/>
          </a:solidFill>
          <a:ln w="12700">
            <a:solidFill>
              <a:srgbClr val="7656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52395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Megjegyzés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852160" y="5605272"/>
            <a:ext cx="4892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 kalkuláció szabadon választott projekt-egységárakkal készült.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Megvalósítási ütemezés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 projekt 2026. július 13. és szeptember 11. között készült el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05840" y="3383280"/>
            <a:ext cx="10149840" cy="1"/>
          </a:xfrm>
          <a:prstGeom prst="line">
            <a:avLst/>
          </a:prstGeom>
          <a:noFill/>
          <a:ln w="38100">
            <a:solidFill>
              <a:srgbClr val="A7BA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35608" y="3090672"/>
            <a:ext cx="566928" cy="566928"/>
          </a:xfrm>
          <a:prstGeom prst="ellipse">
            <a:avLst/>
          </a:prstGeom>
          <a:solidFill>
            <a:srgbClr val="1677B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24028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Júl. 13–24.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3886200"/>
            <a:ext cx="212140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Igények, alaprajz, topológia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94176" y="3090672"/>
            <a:ext cx="566928" cy="566928"/>
          </a:xfrm>
          <a:prstGeom prst="ellipse">
            <a:avLst/>
          </a:prstGeom>
          <a:solidFill>
            <a:srgbClr val="1AA6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6936" y="224028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Júl. 27–aug. 13.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16936" y="3886200"/>
            <a:ext cx="212140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VLAN, címzés, core, STP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52744" y="3090672"/>
            <a:ext cx="566928" cy="566928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5504" y="224028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Aug. 13–27.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75504" y="3886200"/>
            <a:ext cx="212140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Telephelyek, WAN, EIGRP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11312" y="3090672"/>
            <a:ext cx="566928" cy="566928"/>
          </a:xfrm>
          <a:prstGeom prst="ellipse">
            <a:avLst/>
          </a:prstGeom>
          <a:solidFill>
            <a:srgbClr val="7656C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34072" y="224028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Aug. 27–szept. 7.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34072" y="3886200"/>
            <a:ext cx="212140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ASA, NAT, ACL, Wi-Fi, szerverek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469880" y="3090672"/>
            <a:ext cx="566928" cy="566928"/>
          </a:xfrm>
          <a:prstGeom prst="ellipse">
            <a:avLst/>
          </a:prstGeom>
          <a:solidFill>
            <a:srgbClr val="2E9D6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224028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Szept. 8–11.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92640" y="3886200"/>
            <a:ext cx="212140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Teszt, dokumentáció, költségvetés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70832" y="5349240"/>
            <a:ext cx="3429000" cy="347472"/>
          </a:xfrm>
          <a:prstGeom prst="roundRect">
            <a:avLst>
              <a:gd name="adj" fmla="val 21053"/>
            </a:avLst>
          </a:prstGeom>
          <a:solidFill>
            <a:srgbClr val="12A7C8"/>
          </a:solidFill>
          <a:ln w="12700">
            <a:solidFill>
              <a:srgbClr val="12A7C8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43984" y="5422392"/>
            <a:ext cx="3282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47 lezárt Jira-feladat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Tervezett továbbfejlesztések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 teljes vállalati üzemhez szükséges következő lépések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342900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4672" y="148132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44752" y="14630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Site-to-site VPN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121408"/>
            <a:ext cx="3026664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Titkosított telephelyi kapcsolat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52544" y="1298448"/>
            <a:ext cx="342900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5424" y="1481328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75504" y="14630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Active Directory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53712" y="2121408"/>
            <a:ext cx="3026664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Központi identitás és jogosultság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083296" y="1298448"/>
            <a:ext cx="342900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66176" y="1481328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06256" y="14630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Fájl- és nyomtatómegosztás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284464" y="2121408"/>
            <a:ext cx="3026664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Csoportalapú erőforráskezelés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21792" y="3630168"/>
            <a:ext cx="342900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672" y="3813048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44752" y="37947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Automatizált mentés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22960" y="4453128"/>
            <a:ext cx="3026664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Fájl, GPO, DHCP és rendszerállapot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352544" y="3630168"/>
            <a:ext cx="342900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35424" y="3813048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75504" y="37947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Szoftverterítés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553712" y="4453128"/>
            <a:ext cx="3026664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GPO és PowerShell alapú telepítés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8083296" y="3630168"/>
            <a:ext cx="342900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66176" y="3813048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906256" y="37947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L3 redundancia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8284464" y="4453128"/>
            <a:ext cx="3026664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Második core és HSRP virtuális gateway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3246120" y="5806440"/>
            <a:ext cx="5715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Becsült többletköltség: 3,65–8,35 M Ft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Összegzés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 projekt működő, dokumentált és továbbfejleszthető hálózati alapot hozott létre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4173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677B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6642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5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31520" y="2258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telephely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07792" y="14173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AA6A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44952" y="16642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5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3017520" y="2258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központi VLAN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93792" y="14173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677B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30952" y="16642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4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5303520" y="2258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WAN ág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79792" y="14173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AA6A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16952" y="16642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3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7589520" y="2258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kiszolgáló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765792" y="14173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677B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02952" y="16642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47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9875520" y="2258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lezárt feladat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" y="333756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" y="3337560"/>
            <a:ext cx="73152" cy="1828800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502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Műszaki eredmény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0392" y="3867912"/>
            <a:ext cx="301752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VLAN-szegmentáció, inter-VLAN routing, EIGRP, STP, ASA és szerveres szolgáltatások.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70832" y="333756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70832" y="3337560"/>
            <a:ext cx="73152" cy="1828800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9432" y="3502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Üzleti eredmény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99432" y="3867912"/>
            <a:ext cx="301752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 központ és a raktárak egységes hálózati modellben működhetnek.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19872" y="333756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1EC"/>
            </a:solidFill>
            <a:prstDash val="solid"/>
          </a:ln>
          <a:effectLst>
            <a:outerShdw sx="100000" sy="100000" kx="0" ky="0" algn="bl" rotWithShape="0" blurRad="19050" dist="7620" dir="2700000">
              <a:srgbClr val="19324D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19872" y="3337560"/>
            <a:ext cx="73152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48472" y="3502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Következő lépés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48472" y="3867912"/>
            <a:ext cx="301752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VPN, címtár, mentés, szoftverterítés és L3 redundancia kialakítása.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83280" y="580644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</a:rPr>
              <a:t>Köszönjük a figyelmet!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4e47c19-e68f-4046-bf94-918d2dcc81ee}" enabled="1" method="Standard" siteId="{34cd94b5-d86c-447f-8d9b-81b4ff94d32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OKTÁV Továbbképző Központ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DeszMot Logisztika hálózati infrastruktúra</dc:title>
  <dc:subject>DeszMot Logisztika hálózati infrastruktúra projekt</dc:subject>
  <dc:creator>Molnár, Tamás</dc:creator>
  <lastModifiedBy>Molnár, Tamás</lastModifiedBy>
  <revision>1</revision>
  <dcterms:created xsi:type="dcterms:W3CDTF">2026-09-13T13:02:56.6434216Z</dcterms:created>
  <dcterms:modified xsi:type="dcterms:W3CDTF">2026-09-13T13:02:56.6434216Z</dcterms:modified>
</coreProperties>
</file>